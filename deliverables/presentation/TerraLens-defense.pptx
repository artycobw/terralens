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f42c2219f4243" /><Relationship Type="http://schemas.openxmlformats.org/officeDocument/2006/relationships/extended-properties" Target="/docProps/app.xml" Id="Rb7130fd0f7764e6b" /><Relationship Type="http://schemas.openxmlformats.org/officeDocument/2006/relationships/officeDocument" Target="/ppt/presentation.xml" Id="R5e1f2df9acbd4a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95992cbd4a4e9e"/>
  </p:sldMasterIdLst>
  <p:notesMasterIdLst>
    <p:notesMasterId xmlns:r="http://schemas.openxmlformats.org/officeDocument/2006/relationships" r:id="Rf194aa8bbd984612"/>
  </p:notesMasterIdLst>
  <p:sldIdLst>
    <p:sldId xmlns:r="http://schemas.openxmlformats.org/officeDocument/2006/relationships" id="256" r:id="R910ff9f2e073425b"/>
    <p:sldId xmlns:r="http://schemas.openxmlformats.org/officeDocument/2006/relationships" id="257" r:id="R028b0670704d47b0"/>
    <p:sldId xmlns:r="http://schemas.openxmlformats.org/officeDocument/2006/relationships" id="258" r:id="Rf10079b5adf74e88"/>
    <p:sldId xmlns:r="http://schemas.openxmlformats.org/officeDocument/2006/relationships" id="259" r:id="Re5d20cb16e1944f9"/>
    <p:sldId xmlns:r="http://schemas.openxmlformats.org/officeDocument/2006/relationships" id="260" r:id="R858a4308bee14aed"/>
    <p:sldId xmlns:r="http://schemas.openxmlformats.org/officeDocument/2006/relationships" id="261" r:id="R59e05cff24694821"/>
    <p:sldId xmlns:r="http://schemas.openxmlformats.org/officeDocument/2006/relationships" id="262" r:id="R3cb4f8616f7e4db1"/>
    <p:sldId xmlns:r="http://schemas.openxmlformats.org/officeDocument/2006/relationships" id="263" r:id="R60d55506b72543b2"/>
    <p:sldId xmlns:r="http://schemas.openxmlformats.org/officeDocument/2006/relationships" id="264" r:id="Rf2d1583f6b9d466b"/>
    <p:sldId xmlns:r="http://schemas.openxmlformats.org/officeDocument/2006/relationships" id="265" r:id="R301678cad90e4f92"/>
    <p:sldId xmlns:r="http://schemas.openxmlformats.org/officeDocument/2006/relationships" id="266" r:id="R38a94fc7f212433d"/>
    <p:sldId xmlns:r="http://schemas.openxmlformats.org/officeDocument/2006/relationships" id="267" r:id="Rb2bcfe97badb49f8"/>
    <p:sldId xmlns:r="http://schemas.openxmlformats.org/officeDocument/2006/relationships" id="268" r:id="R69bcc4f2974d4945"/>
    <p:sldId xmlns:r="http://schemas.openxmlformats.org/officeDocument/2006/relationships" id="269" r:id="R1f9a1a40272a42cc"/>
    <p:sldId xmlns:r="http://schemas.openxmlformats.org/officeDocument/2006/relationships" id="270" r:id="Rbd0332085f44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0a1b0e4c542ff" /><Relationship Type="http://schemas.openxmlformats.org/officeDocument/2006/relationships/slideMaster" Target="/ppt/slideMasters/slideMaster1.xml" Id="R9895992cbd4a4e9e" /><Relationship Type="http://schemas.openxmlformats.org/officeDocument/2006/relationships/notesMaster" Target="/ppt/notesMasters/notesMaster1.xml" Id="Rf194aa8bbd984612" /><Relationship Type="http://schemas.openxmlformats.org/officeDocument/2006/relationships/presProps" Target="/ppt/presProps.xml" Id="Ra1a46a85b1b94f97" /><Relationship Type="http://schemas.openxmlformats.org/officeDocument/2006/relationships/tableStyles" Target="/ppt/tableStyles.xml" Id="Rca8be9f31e974ed2" /><Relationship Type="http://schemas.openxmlformats.org/officeDocument/2006/relationships/slide" Target="/ppt/slides/slide1.xml" Id="R910ff9f2e073425b" /><Relationship Type="http://schemas.openxmlformats.org/officeDocument/2006/relationships/slide" Target="/ppt/slides/slide2.xml" Id="R028b0670704d47b0" /><Relationship Type="http://schemas.openxmlformats.org/officeDocument/2006/relationships/slide" Target="/ppt/slides/slide3.xml" Id="Rf10079b5adf74e88" /><Relationship Type="http://schemas.openxmlformats.org/officeDocument/2006/relationships/slide" Target="/ppt/slides/slide4.xml" Id="Re5d20cb16e1944f9" /><Relationship Type="http://schemas.openxmlformats.org/officeDocument/2006/relationships/slide" Target="/ppt/slides/slide5.xml" Id="R858a4308bee14aed" /><Relationship Type="http://schemas.openxmlformats.org/officeDocument/2006/relationships/slide" Target="/ppt/slides/slide6.xml" Id="R59e05cff24694821" /><Relationship Type="http://schemas.openxmlformats.org/officeDocument/2006/relationships/slide" Target="/ppt/slides/slide7.xml" Id="R3cb4f8616f7e4db1" /><Relationship Type="http://schemas.openxmlformats.org/officeDocument/2006/relationships/slide" Target="/ppt/slides/slide8.xml" Id="R60d55506b72543b2" /><Relationship Type="http://schemas.openxmlformats.org/officeDocument/2006/relationships/slide" Target="/ppt/slides/slide9.xml" Id="Rf2d1583f6b9d466b" /><Relationship Type="http://schemas.openxmlformats.org/officeDocument/2006/relationships/slide" Target="/ppt/slides/slide10.xml" Id="R301678cad90e4f92" /><Relationship Type="http://schemas.openxmlformats.org/officeDocument/2006/relationships/slide" Target="/ppt/slides/slide11.xml" Id="R38a94fc7f212433d" /><Relationship Type="http://schemas.openxmlformats.org/officeDocument/2006/relationships/slide" Target="/ppt/slides/slide12.xml" Id="Rb2bcfe97badb49f8" /><Relationship Type="http://schemas.openxmlformats.org/officeDocument/2006/relationships/slide" Target="/ppt/slides/slide13.xml" Id="R69bcc4f2974d4945" /><Relationship Type="http://schemas.openxmlformats.org/officeDocument/2006/relationships/slide" Target="/ppt/slides/slide14.xml" Id="R1f9a1a40272a42cc" /><Relationship Type="http://schemas.openxmlformats.org/officeDocument/2006/relationships/slide" Target="/ppt/slides/slide15.xml" Id="Rbd0332085f44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16b3603dd4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d6303c6f041f0" /><Relationship Type="http://schemas.openxmlformats.org/officeDocument/2006/relationships/notesMaster" Target="/ppt/notesMasters/notesMaster1.xml" Id="Rcd9a1704202548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207b4f8c04aef" /><Relationship Type="http://schemas.openxmlformats.org/officeDocument/2006/relationships/notesMaster" Target="/ppt/notesMasters/notesMaster1.xml" Id="R2007140c9fa543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ca70208234451" /><Relationship Type="http://schemas.openxmlformats.org/officeDocument/2006/relationships/notesMaster" Target="/ppt/notesMasters/notesMaster1.xml" Id="Re9cf5fcc616c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f013a8167545a2" /><Relationship Type="http://schemas.openxmlformats.org/officeDocument/2006/relationships/notesMaster" Target="/ppt/notesMasters/notesMaster1.xml" Id="Rfae456e9bc9e4f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05054f06a94cf2" /><Relationship Type="http://schemas.openxmlformats.org/officeDocument/2006/relationships/notesMaster" Target="/ppt/notesMasters/notesMaster1.xml" Id="R43453878dcfd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9b9fc4d76048be" /><Relationship Type="http://schemas.openxmlformats.org/officeDocument/2006/relationships/notesMaster" Target="/ppt/notesMasters/notesMaster1.xml" Id="R5e126fabce5846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e808fe2a0c4a40" /><Relationship Type="http://schemas.openxmlformats.org/officeDocument/2006/relationships/notesMaster" Target="/ppt/notesMasters/notesMaster1.xml" Id="R33d2d665602b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9fa4c23cfd4658" /><Relationship Type="http://schemas.openxmlformats.org/officeDocument/2006/relationships/notesMaster" Target="/ppt/notesMasters/notesMaster1.xml" Id="Rcc155978726a42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257708a44c437d" /><Relationship Type="http://schemas.openxmlformats.org/officeDocument/2006/relationships/notesMaster" Target="/ppt/notesMasters/notesMaster1.xml" Id="R30605fccc3b444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2aa1b9c4234e90" /><Relationship Type="http://schemas.openxmlformats.org/officeDocument/2006/relationships/notesMaster" Target="/ppt/notesMasters/notesMaster1.xml" Id="R8c9d6fbbdd1f4f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9ce0c867734b44" /><Relationship Type="http://schemas.openxmlformats.org/officeDocument/2006/relationships/notesMaster" Target="/ppt/notesMasters/notesMaster1.xml" Id="Re17be2a3e20746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f66f1106d44b13" /><Relationship Type="http://schemas.openxmlformats.org/officeDocument/2006/relationships/notesMaster" Target="/ppt/notesMasters/notesMaster1.xml" Id="Re33ceb0849d741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f8a88040924ad2" /><Relationship Type="http://schemas.openxmlformats.org/officeDocument/2006/relationships/notesMaster" Target="/ppt/notesMasters/notesMaster1.xml" Id="R10e7ee8b49164f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72cf39294d4a45" /><Relationship Type="http://schemas.openxmlformats.org/officeDocument/2006/relationships/notesMaster" Target="/ppt/notesMasters/notesMaster1.xml" Id="R3ba6c070825343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2a5069fe294c27" /><Relationship Type="http://schemas.openxmlformats.org/officeDocument/2006/relationships/notesMaster" Target="/ppt/notesMasters/notesMaster1.xml" Id="R2dce0668fbf042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TerraLens — сервис мониторинга вегетационной динамики. Мы подготовили веб-приложение и отдельный пакет восстановления NDVI. Далее покажем пользовательский путь, качество модели и реальные данные. Источники: README.md и постановка_задачи.pdf в репозитории. Изображение Земли — иллюстрация лендинга, не наблюдение выбранного поля.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находит участок или рисует контур, задаёт период и получает ряд. Приложение самостоятельно собирает спутники и погоду. Данные можно сравнить между сезонами и выгрузить с происхождением значений. Здесь реальный экран production-сборки localhost:3001 без подмены ответов. Источник: https://github.com/ArtycoBW/Terralens/blob/main/docs/JURY_GUIDE.md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 содержит 39 анонимных полей. В материалах два различных тестовых входа. Их контрольные ключи не пересекаются. Для каждого подготовлен отдельный submission. Приложенные ответы подходят только к набору на 3112 точек. Название финального входа организаторы не уточнили. Источник: https://github.com/ArtycoBW/Terralens/blob/main/docs/analysis/input-review/materials.json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использует единый origin Next.js. Django хранит состояние и геометрию в PostGIS. Redis передаёт задачи Celery. Worker собирает источники и импортирует тот же Python ML-пакет, что использует автономный CLI. Результат сохраняется атомарно. Источники: https://github.com/ArtycoBW/Terralens/blob/main/docs/ARCHITECTURE.md и 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M0 берёт среднее ближайших соседей. Итоговая модель корректирует его ансамблем трёх CatBoost. Мы проверили четыре варианта на одинаковых development folds. Погода и категория культуры не вошли в итоговые признаки. Скрытые динамические значения удаляются до построения контекста. Источник: https://github.com/ArtycoBW/Terralens/blob/main/docs/analysis/crop-dynamics/REPORT.md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обучаемые параметры получают только selection AOI до 2024 года. Calibration и assessment отделены по полям. Восемь старых holdout уже просматривались и исключены из нового выбора. Мы не называем повторную диагностику новым слепым тестом. Источники: https://github.com/ArtycoBW/Terralens/blob/main/docs/analysis/crop-dynamics/PROTOCOL.md и ml/README.md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публикации модели нам передали файл правильных ответов. Мы оценили неизменённые прогнозы на 3112 точках. RMSE равен 0.075034, что даёт 7.49 балла из 30 по формуле кейса. Это локальный расчёт, а не оценка платформы. Во втором тесте 2323 точки, подходящих ответов нет. Источник: https://github.com/ArtycoBW/Terralens/blob/main/docs/analysis/input-review/local-score.json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заранее зафиксировали три поля, единый период и правила маскирования. На каждой целевой дате удаляем все сцены всех сенсоров. Сравниваем модель и M0 на одинаковых наблюдениях. Ни обучения, ни выбора параметров на этих данных не было. Это оценка на трёх конкретных контурах, а не всей России или мира. Источники: https://github.com/ArtycoBW/Terralens/blob/main/docs/analysis/field-cases/PROTOCOL.md и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Показан полный ряд выбранного периода без изменения измерений. 14 наблюдаемых дней из 61. 2 событий по штатному правилу. История культур неизвестна. Стресс, уборка, смена культуры и остаточная облачность требуют проверки. Отсутствие событий не доказывает отсутствие агрономических проблем. Источник: https://github.com/ArtycoBW/Terralens/blob/main/docs/analysis/field-cases/voronezh.json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Показан полный ряд выбранного периода без изменения измерений. 11 наблюдаемых дней из 61. 0 событий по штатному правилу. История культур неизвестна. Стресс, уборка, смена культуры и остаточная облачность требуют проверки. Отсутствие событий не доказывает отсутствие агрономических проблем. Источник: https://github.com/ArtycoBW/Terralens/blob/main/docs/analysis/field-cases/seville.json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различает наблюдения, восстановление и отсутствие данных. У результата есть модель, версия геометрии, снимки источников и экспорт. Жюри может повторить расчёт через CLI и сверить хеш. Здесь реальный экран бенчмарка приложения. Источники: https://github.com/ArtycoBW/Terralens/blob/main/docs/JURY_GUIDE.md и 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рабочую карту, создаём поле, запускаем расчёт и показываем результат. Если внешний источник недоступен, используем сохранённые отчёты реального сбора с хешами и прямо называем их записью. Демо занимает около двух минут без ожидания нового полного сбора. Источники: https://github.com/ArtycoBW/Terralens/blob/main/README.md и docs/DEFENSE_GUIDE.md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Дополнение к проверке переноса. Скрываем непересекающиеся пары соседних наблюдаемых дат. Последняя непарная дата исключена только из этого сценария. Общий результат взвешен по числу целевых точек. Все результаты опубликованы, в том числе ухудшения. Источник: https://github.com/ArtycoBW/Terralens/blob/main/docs/analysis/field-cases/summary.json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Число событий определяется правилами алгоритма, а не размеченными диагнозами. Мы не заявляем precision/recall засухи без агрономического ground truth. Норма зависит от сопоставимости культур и источников. Калибровка интервала на benchmark не даёт гарантии на каждом новом поле. Два тестовых входа храним отдельно до уточнения организаторов. Источники: https://github.com/ArtycoBW/Terralens/blob/main/docs/CASE_AUDIT.md и ml/README.md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Третий выбранный контур, полный период 01.06–31.07.2024. 15 наблюдаемых дней. 0 событий. Культура и агрономическая причина не подтверждены. Источник: https://github.com/ArtycoBW/Terralens/blob/main/docs/analysis/field-cases/potsdam.json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001583b7943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870b3cb9c4e41" /><Relationship Type="http://schemas.openxmlformats.org/officeDocument/2006/relationships/slideLayout" Target="/ppt/slideLayouts/slideLayout1.xml" Id="Re51ee4c3a5194f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ee4c3a5194f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0d2b111204838" /><Relationship Type="http://schemas.openxmlformats.org/officeDocument/2006/relationships/image" Target="/ppt/media/image.bin" Id="R5548944eec5e4acb" /><Relationship Type="http://schemas.openxmlformats.org/officeDocument/2006/relationships/notesSlide" Target="/ppt/notesSlides/notesSlide1.xml" Id="R757223d4de72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df2d9f84341c9" /><Relationship Type="http://schemas.openxmlformats.org/officeDocument/2006/relationships/image" Target="/ppt/media/image.png" Id="R66acf375e9c94d8a" /><Relationship Type="http://schemas.openxmlformats.org/officeDocument/2006/relationships/notesSlide" Target="/ppt/notesSlides/notesSlide2.xml" Id="R8a3f209072e443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3cea36dae45aa" /><Relationship Type="http://schemas.openxmlformats.org/officeDocument/2006/relationships/notesSlide" Target="/ppt/notesSlides/notesSlide3.xml" Id="Rc134db342aa849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95a8bca994114" /><Relationship Type="http://schemas.openxmlformats.org/officeDocument/2006/relationships/notesSlide" Target="/ppt/notesSlides/notesSlide4.xml" Id="R9f94dc46a2c84a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8b20270044302" /><Relationship Type="http://schemas.openxmlformats.org/officeDocument/2006/relationships/notesSlide" Target="/ppt/notesSlides/notesSlide5.xml" Id="R9c7e69398917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b477ae94f4230" /><Relationship Type="http://schemas.openxmlformats.org/officeDocument/2006/relationships/notesSlide" Target="/ppt/notesSlides/notesSlide6.xml" Id="Re88baf42884c47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1c4a255a64f24" /><Relationship Type="http://schemas.openxmlformats.org/officeDocument/2006/relationships/notesSlide" Target="/ppt/notesSlides/notesSlide7.xml" Id="R2f18a2d519f24f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6caf5b18445bc" /><Relationship Type="http://schemas.openxmlformats.org/officeDocument/2006/relationships/notesSlide" Target="/ppt/notesSlides/notesSlide8.xml" Id="Rb8aa7da9f3d449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5a1515fb47da" /><Relationship Type="http://schemas.openxmlformats.org/officeDocument/2006/relationships/chart" Target="/ppt/slides/charts/chart1.xml" Id="R4697d32c70d94a1a" /><Relationship Type="http://schemas.openxmlformats.org/officeDocument/2006/relationships/notesSlide" Target="/ppt/notesSlides/notesSlide9.xml" Id="R7681b1a8b2c044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19dd66b14013" /><Relationship Type="http://schemas.openxmlformats.org/officeDocument/2006/relationships/chart" Target="/ppt/slides/charts/chart2.xml" Id="Rbfa0bddc41374345" /><Relationship Type="http://schemas.openxmlformats.org/officeDocument/2006/relationships/notesSlide" Target="/ppt/notesSlides/notesSlide10.xml" Id="R5b3722d145fd43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d7072157e42bc" /><Relationship Type="http://schemas.openxmlformats.org/officeDocument/2006/relationships/image" Target="/ppt/media/image2.png" Id="R579a01765a8e47d5" /><Relationship Type="http://schemas.openxmlformats.org/officeDocument/2006/relationships/notesSlide" Target="/ppt/notesSlides/notesSlide11.xml" Id="R1d0c1e9a22524d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64fc7357f4bdb" /><Relationship Type="http://schemas.openxmlformats.org/officeDocument/2006/relationships/notesSlide" Target="/ppt/notesSlides/notesSlide12.xml" Id="R99fd6b2697b84a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920e98554c18" /><Relationship Type="http://schemas.openxmlformats.org/officeDocument/2006/relationships/notesSlide" Target="/ppt/notesSlides/notesSlide13.xml" Id="R4c574a473f4a45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9fefee2a54240" /><Relationship Type="http://schemas.openxmlformats.org/officeDocument/2006/relationships/notesSlide" Target="/ppt/notesSlides/notesSlide14.xml" Id="R34c19085795a46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65b02cd494ad7" /><Relationship Type="http://schemas.openxmlformats.org/officeDocument/2006/relationships/chart" Target="/ppt/slides/charts/chart3.xml" Id="R8a4d0a72c32744a2" /><Relationship Type="http://schemas.openxmlformats.org/officeDocument/2006/relationships/notesSlide" Target="/ppt/notesSlides/notesSlide15.xml" Id="Rbdd5b2d8402843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Восстановленный ряд</c:v>
          </c:tx>
          <c:spPr>
            <a:ln xmlns:a="http://schemas.openxmlformats.org/drawingml/2006/main" w="19050">
              <a:solidFill>
                <a:srgbClr val="EBFF78"/>
              </a:solidFill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</c:numCache>
            </c:numRef>
          </c:xVal>
          <c:yVal>
            <c:numRef>
              <c:f>'Chart Data'!$B$2:$B$62</c:f>
              <c:numCache>
                <c:formatCode>0.0</c:formatCode>
                <c:ptCount val="61"/>
                <c:pt idx="0">
                  <c:v>0.31194707</c:v>
                </c:pt>
                <c:pt idx="1">
                  <c:v>0.31144453</c:v>
                </c:pt>
                <c:pt idx="2">
                  <c:v>0.31233912</c:v>
                </c:pt>
                <c:pt idx="3">
                  <c:v>0.31770134</c:v>
                </c:pt>
                <c:pt idx="4">
                  <c:v>0.32347838</c:v>
                </c:pt>
                <c:pt idx="5">
                  <c:v>0.33290645</c:v>
                </c:pt>
                <c:pt idx="6">
                  <c:v>0.33279323</c:v>
                </c:pt>
                <c:pt idx="7">
                  <c:v>0.35685435</c:v>
                </c:pt>
                <c:pt idx="8">
                  <c:v>0.25642163</c:v>
                </c:pt>
                <c:pt idx="9">
                  <c:v>0.3588333</c:v>
                </c:pt>
                <c:pt idx="10">
                  <c:v>0.27141713</c:v>
                </c:pt>
                <c:pt idx="11">
                  <c:v>0.42300128</c:v>
                </c:pt>
                <c:pt idx="12">
                  <c:v>0.42349668</c:v>
                </c:pt>
                <c:pt idx="13">
                  <c:v>0.42236312</c:v>
                </c:pt>
                <c:pt idx="14">
                  <c:v>0.42578924</c:v>
                </c:pt>
                <c:pt idx="15">
                  <c:v>0.43094553</c:v>
                </c:pt>
                <c:pt idx="16">
                  <c:v>0.43555606</c:v>
                </c:pt>
                <c:pt idx="17">
                  <c:v>0.43699084</c:v>
                </c:pt>
                <c:pt idx="18">
                  <c:v>0.44410789</c:v>
                </c:pt>
                <c:pt idx="19">
                  <c:v>0.48960223</c:v>
                </c:pt>
                <c:pt idx="20">
                  <c:v>0.49667779</c:v>
                </c:pt>
                <c:pt idx="21">
                  <c:v>0.52378045</c:v>
                </c:pt>
                <c:pt idx="22">
                  <c:v>0.59076928</c:v>
                </c:pt>
                <c:pt idx="23">
                  <c:v>0.5877024</c:v>
                </c:pt>
                <c:pt idx="24">
                  <c:v>0.59817611</c:v>
                </c:pt>
                <c:pt idx="25">
                  <c:v>0.60876147</c:v>
                </c:pt>
                <c:pt idx="26">
                  <c:v>0.61678029</c:v>
                </c:pt>
                <c:pt idx="27">
                  <c:v>0.62665295</c:v>
                </c:pt>
                <c:pt idx="28">
                  <c:v>0.66465363</c:v>
                </c:pt>
                <c:pt idx="29">
                  <c:v>0.66991163</c:v>
                </c:pt>
                <c:pt idx="30">
                  <c:v>0.65714286</c:v>
                </c:pt>
                <c:pt idx="31">
                  <c:v>0.71171283</c:v>
                </c:pt>
                <c:pt idx="32">
                  <c:v>0.71453334</c:v>
                </c:pt>
                <c:pt idx="33">
                  <c:v>0.72998423</c:v>
                </c:pt>
                <c:pt idx="34">
                  <c:v>0.7416061</c:v>
                </c:pt>
                <c:pt idx="35">
                  <c:v>0.79437712</c:v>
                </c:pt>
                <c:pt idx="36">
                  <c:v>0.76549069</c:v>
                </c:pt>
                <c:pt idx="37">
                  <c:v>0.76807934</c:v>
                </c:pt>
                <c:pt idx="38">
                  <c:v>0.7985055</c:v>
                </c:pt>
                <c:pt idx="39">
                  <c:v>0.7839491</c:v>
                </c:pt>
                <c:pt idx="40">
                  <c:v>0.78419109</c:v>
                </c:pt>
                <c:pt idx="41">
                  <c:v>0.78518829</c:v>
                </c:pt>
                <c:pt idx="42">
                  <c:v>0.78576365</c:v>
                </c:pt>
                <c:pt idx="43">
                  <c:v>0.78365794</c:v>
                </c:pt>
                <c:pt idx="44">
                  <c:v>0.78586054</c:v>
                </c:pt>
                <c:pt idx="45">
                  <c:v>0.79061372</c:v>
                </c:pt>
                <c:pt idx="46">
                  <c:v>0.77800444</c:v>
                </c:pt>
                <c:pt idx="47">
                  <c:v>0.77470519</c:v>
                </c:pt>
                <c:pt idx="48">
                  <c:v>0.81262968</c:v>
                </c:pt>
                <c:pt idx="49">
                  <c:v>0.78347582</c:v>
                </c:pt>
                <c:pt idx="50">
                  <c:v>0.78369472</c:v>
                </c:pt>
                <c:pt idx="51">
                  <c:v>0.78323416</c:v>
                </c:pt>
                <c:pt idx="52">
                  <c:v>0.78297681</c:v>
                </c:pt>
                <c:pt idx="53">
                  <c:v>0.78158228</c:v>
                </c:pt>
                <c:pt idx="54">
                  <c:v>0.78252312</c:v>
                </c:pt>
                <c:pt idx="55">
                  <c:v>0.79701427</c:v>
                </c:pt>
                <c:pt idx="56">
                  <c:v>0.78502879</c:v>
                </c:pt>
                <c:pt idx="57">
                  <c:v>0.78146806</c:v>
                </c:pt>
                <c:pt idx="58">
                  <c:v>0.7803677</c:v>
                </c:pt>
                <c:pt idx="59">
                  <c:v>0.77825286</c:v>
                </c:pt>
                <c:pt idx="60">
                  <c:v>0.82144997</c:v>
                </c:pt>
              </c:numCache>
            </c:numRef>
          </c:yVal>
        </c:ser>
        <c:ser>
          <c:idx val="1"/>
          <c:order val="1"/>
          <c:tx>
            <c:v>Наблюдения</c:v>
          </c:tx>
          <c:spPr>
            <a:solidFill xmlns:a="http://schemas.openxmlformats.org/drawingml/2006/main">
              <a:srgbClr val="F4F3E7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Data'!$C$2:$C$15</c:f>
              <c:numCache>
                <c:formatCode>General</c:formatCode>
                <c:ptCount val="14"/>
                <c:pt idx="0">
                  <c:v>9</c:v>
                </c:pt>
                <c:pt idx="1">
                  <c:v>11</c:v>
                </c:pt>
                <c:pt idx="2">
                  <c:v>19</c:v>
                </c:pt>
                <c:pt idx="3">
                  <c:v>22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  <c:pt idx="7">
                  <c:v>34</c:v>
                </c:pt>
                <c:pt idx="8">
                  <c:v>36</c:v>
                </c:pt>
                <c:pt idx="9">
                  <c:v>39</c:v>
                </c:pt>
                <c:pt idx="10">
                  <c:v>46</c:v>
                </c:pt>
                <c:pt idx="11">
                  <c:v>49</c:v>
                </c:pt>
                <c:pt idx="12">
                  <c:v>56</c:v>
                </c:pt>
                <c:pt idx="13">
                  <c:v>61</c:v>
                </c:pt>
              </c:numCache>
            </c:numRef>
          </c:xVal>
          <c:yVal>
            <c:numRef>
              <c:f>'Chart Data'!$D$2:$D$15</c:f>
              <c:numCache>
                <c:formatCode>0.0</c:formatCode>
                <c:ptCount val="14"/>
                <c:pt idx="0">
                  <c:v>0.25642163</c:v>
                </c:pt>
                <c:pt idx="1">
                  <c:v>0.27141713</c:v>
                </c:pt>
                <c:pt idx="2">
                  <c:v>0.44410789</c:v>
                </c:pt>
                <c:pt idx="3">
                  <c:v>0.52378045</c:v>
                </c:pt>
                <c:pt idx="4">
                  <c:v>0.66465363</c:v>
                </c:pt>
                <c:pt idx="5">
                  <c:v>0.66991163</c:v>
                </c:pt>
                <c:pt idx="6">
                  <c:v>0.65714286</c:v>
                </c:pt>
                <c:pt idx="7">
                  <c:v>0.72998423</c:v>
                </c:pt>
                <c:pt idx="8">
                  <c:v>0.79437712</c:v>
                </c:pt>
                <c:pt idx="9">
                  <c:v>0.7985055</c:v>
                </c:pt>
                <c:pt idx="10">
                  <c:v>0.79061372</c:v>
                </c:pt>
                <c:pt idx="11">
                  <c:v>0.81262968</c:v>
                </c:pt>
                <c:pt idx="12">
                  <c:v>0.79701427</c:v>
                </c:pt>
                <c:pt idx="13">
                  <c:v>0.82144997</c:v>
                </c:pt>
              </c:numCache>
            </c:numRef>
          </c:yVal>
        </c:ser>
        <c:ser>
          <c:idx val="2"/>
          <c:order val="2"/>
          <c:tx>
            <c:v>Историческая норма</c:v>
          </c:tx>
          <c:spPr>
            <a:solidFill xmlns:a="http://schemas.openxmlformats.org/drawingml/2006/main">
              <a:srgbClr val="8DA0A3"/>
            </a:solidFill>
            <a:ln xmlns:a="http://schemas.openxmlformats.org/drawingml/2006/main" w="0">
              <a:noFill/>
            </a:ln>
          </c:spPr>
          <c:marker>
            <c:symbol val="diamond"/>
            <c:size val="5"/>
            <c:spPr>
              <a:noFill xmlns:a="http://schemas.openxmlformats.org/drawingml/2006/main"/>
            </c:spPr>
          </c:marker>
          <c:xVal>
            <c:numRef>
              <c:f>'Chart Data'!$E$2:$E$33</c:f>
              <c:numCache>
                <c:formatCode>General</c:formatCode>
                <c:ptCount val="32"/>
                <c:pt idx="0">
                  <c:v>22</c:v>
                </c:pt>
                <c:pt idx="1">
                  <c:v>27</c:v>
                </c:pt>
                <c:pt idx="2">
                  <c:v>28</c:v>
                </c:pt>
                <c:pt idx="3">
                  <c:v>29</c:v>
                </c:pt>
                <c:pt idx="4">
                  <c:v>30</c:v>
                </c:pt>
                <c:pt idx="5">
                  <c:v>31</c:v>
                </c:pt>
                <c:pt idx="6">
                  <c:v>32</c:v>
                </c:pt>
                <c:pt idx="7">
                  <c:v>33</c:v>
                </c:pt>
                <c:pt idx="8">
                  <c:v>34</c:v>
                </c:pt>
                <c:pt idx="9">
                  <c:v>35</c:v>
                </c:pt>
                <c:pt idx="10">
                  <c:v>36</c:v>
                </c:pt>
                <c:pt idx="11">
                  <c:v>37</c:v>
                </c:pt>
                <c:pt idx="12">
                  <c:v>38</c:v>
                </c:pt>
                <c:pt idx="13">
                  <c:v>39</c:v>
                </c:pt>
                <c:pt idx="14">
                  <c:v>40</c:v>
                </c:pt>
                <c:pt idx="15">
                  <c:v>41</c:v>
                </c:pt>
                <c:pt idx="16">
                  <c:v>42</c:v>
                </c:pt>
                <c:pt idx="17">
                  <c:v>43</c:v>
                </c:pt>
                <c:pt idx="18">
                  <c:v>44</c:v>
                </c:pt>
                <c:pt idx="19">
                  <c:v>45</c:v>
                </c:pt>
                <c:pt idx="20">
                  <c:v>46</c:v>
                </c:pt>
                <c:pt idx="21">
                  <c:v>47</c:v>
                </c:pt>
                <c:pt idx="22">
                  <c:v>48</c:v>
                </c:pt>
                <c:pt idx="23">
                  <c:v>49</c:v>
                </c:pt>
                <c:pt idx="24">
                  <c:v>50</c:v>
                </c:pt>
                <c:pt idx="25">
                  <c:v>51</c:v>
                </c:pt>
                <c:pt idx="26">
                  <c:v>52</c:v>
                </c:pt>
                <c:pt idx="27">
                  <c:v>53</c:v>
                </c:pt>
                <c:pt idx="28">
                  <c:v>54</c:v>
                </c:pt>
                <c:pt idx="29">
                  <c:v>55</c:v>
                </c:pt>
                <c:pt idx="30">
                  <c:v>56</c:v>
                </c:pt>
                <c:pt idx="31">
                  <c:v>57</c:v>
                </c:pt>
              </c:numCache>
            </c:numRef>
          </c:xVal>
          <c:yVal>
            <c:numRef>
              <c:f>'Chart Data'!$F$2:$F$33</c:f>
              <c:numCache>
                <c:formatCode>0.0</c:formatCode>
                <c:ptCount val="32"/>
                <c:pt idx="0">
                  <c:v>0.73797992</c:v>
                </c:pt>
                <c:pt idx="1">
                  <c:v>0.85752166</c:v>
                </c:pt>
                <c:pt idx="2">
                  <c:v>0.85752166</c:v>
                </c:pt>
                <c:pt idx="3">
                  <c:v>0.85752166</c:v>
                </c:pt>
                <c:pt idx="4">
                  <c:v>0.86198167</c:v>
                </c:pt>
                <c:pt idx="5">
                  <c:v>0.85752166</c:v>
                </c:pt>
                <c:pt idx="6">
                  <c:v>0.85752166</c:v>
                </c:pt>
                <c:pt idx="7">
                  <c:v>0.85752166</c:v>
                </c:pt>
                <c:pt idx="8">
                  <c:v>0.85752166</c:v>
                </c:pt>
                <c:pt idx="9">
                  <c:v>0.85752166</c:v>
                </c:pt>
                <c:pt idx="10">
                  <c:v>0.85752166</c:v>
                </c:pt>
                <c:pt idx="11">
                  <c:v>0.85752166</c:v>
                </c:pt>
                <c:pt idx="12">
                  <c:v>0.85752166</c:v>
                </c:pt>
                <c:pt idx="13">
                  <c:v>0.85752166</c:v>
                </c:pt>
                <c:pt idx="14">
                  <c:v>0.85752166</c:v>
                </c:pt>
                <c:pt idx="15">
                  <c:v>0.85752166</c:v>
                </c:pt>
                <c:pt idx="16">
                  <c:v>0.85752166</c:v>
                </c:pt>
                <c:pt idx="17">
                  <c:v>0.85752166</c:v>
                </c:pt>
                <c:pt idx="18">
                  <c:v>0.85752166</c:v>
                </c:pt>
                <c:pt idx="19">
                  <c:v>0.85752166</c:v>
                </c:pt>
                <c:pt idx="20">
                  <c:v>0.85752166</c:v>
                </c:pt>
                <c:pt idx="21">
                  <c:v>0.85752166</c:v>
                </c:pt>
                <c:pt idx="22">
                  <c:v>0.85752166</c:v>
                </c:pt>
                <c:pt idx="23">
                  <c:v>0.85752166</c:v>
                </c:pt>
                <c:pt idx="24">
                  <c:v>0.85752166</c:v>
                </c:pt>
                <c:pt idx="25">
                  <c:v>0.85752166</c:v>
                </c:pt>
                <c:pt idx="26">
                  <c:v>0.85752166</c:v>
                </c:pt>
                <c:pt idx="27">
                  <c:v>0.85752166</c:v>
                </c:pt>
                <c:pt idx="28">
                  <c:v>0.85752166</c:v>
                </c:pt>
                <c:pt idx="29">
                  <c:v>0.85752166</c:v>
                </c:pt>
                <c:pt idx="30">
                  <c:v>0.85752166</c:v>
                </c:pt>
                <c:pt idx="31">
                  <c:v>0.85752166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1473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B6B8A4"/>
                    </a:solidFill>
                    <a:latin typeface="Arial"/>
                    <a:ea typeface="Arial"/>
                    <a:cs typeface="Arial"/>
                  </a:rPr>
                  <a:t>NDVI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B6B8A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1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B6B8A4"/>
                    </a:solidFill>
                    <a:latin typeface="Arial"/>
                    <a:ea typeface="Arial"/>
                    <a:cs typeface="Arial"/>
                  </a:rPr>
                  <a:t>День периода: 1 = 1 июня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B6B8A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41473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5"/>
      </c:valAx>
      <c:spPr>
        <a:solidFill xmlns:a="http://schemas.openxmlformats.org/drawingml/2006/main">
          <a:srgbClr val="11130B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F4F3E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11130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Восстановленный ряд</c:v>
          </c:tx>
          <c:spPr>
            <a:ln xmlns:a="http://schemas.openxmlformats.org/drawingml/2006/main" w="19050">
              <a:solidFill>
                <a:srgbClr val="EBFF78"/>
              </a:solidFill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</c:numCache>
            </c:numRef>
          </c:xVal>
          <c:yVal>
            <c:numRef>
              <c:f>'Chart Data'!$B$2:$B$62</c:f>
              <c:numCache>
                <c:formatCode>0.0</c:formatCode>
                <c:ptCount val="61"/>
                <c:pt idx="0">
                  <c:v>0.28020304</c:v>
                </c:pt>
                <c:pt idx="1">
                  <c:v>0.279843</c:v>
                </c:pt>
                <c:pt idx="2">
                  <c:v>0.28164161</c:v>
                </c:pt>
                <c:pt idx="3">
                  <c:v>0.26366385</c:v>
                </c:pt>
                <c:pt idx="4">
                  <c:v>0.28941587</c:v>
                </c:pt>
                <c:pt idx="5">
                  <c:v>0.28712152</c:v>
                </c:pt>
                <c:pt idx="6">
                  <c:v>0.28799985</c:v>
                </c:pt>
                <c:pt idx="7">
                  <c:v>0.28942427</c:v>
                </c:pt>
                <c:pt idx="8">
                  <c:v>0.28346642</c:v>
                </c:pt>
                <c:pt idx="9">
                  <c:v>0.28872394</c:v>
                </c:pt>
                <c:pt idx="10">
                  <c:v>0.29038933</c:v>
                </c:pt>
                <c:pt idx="11">
                  <c:v>0.29008275</c:v>
                </c:pt>
                <c:pt idx="12">
                  <c:v>0.29256361</c:v>
                </c:pt>
                <c:pt idx="13">
                  <c:v>0.25545343</c:v>
                </c:pt>
                <c:pt idx="14">
                  <c:v>0.28116107</c:v>
                </c:pt>
                <c:pt idx="15">
                  <c:v>0.27862758</c:v>
                </c:pt>
                <c:pt idx="16">
                  <c:v>0.27839884</c:v>
                </c:pt>
                <c:pt idx="17">
                  <c:v>0.27751093</c:v>
                </c:pt>
                <c:pt idx="18">
                  <c:v>0.27067146</c:v>
                </c:pt>
                <c:pt idx="19">
                  <c:v>0.32315502</c:v>
                </c:pt>
                <c:pt idx="20">
                  <c:v>0.26456453</c:v>
                </c:pt>
                <c:pt idx="21">
                  <c:v>0.26242933</c:v>
                </c:pt>
                <c:pt idx="22">
                  <c:v>0.26050444</c:v>
                </c:pt>
                <c:pt idx="23">
                  <c:v>0.24239805</c:v>
                </c:pt>
                <c:pt idx="24">
                  <c:v>0.24882493</c:v>
                </c:pt>
                <c:pt idx="25">
                  <c:v>0.24624206</c:v>
                </c:pt>
                <c:pt idx="26">
                  <c:v>0.24646512</c:v>
                </c:pt>
                <c:pt idx="27">
                  <c:v>0.24680486</c:v>
                </c:pt>
                <c:pt idx="28">
                  <c:v>0.23920555</c:v>
                </c:pt>
                <c:pt idx="29">
                  <c:v>0.2451458</c:v>
                </c:pt>
                <c:pt idx="30">
                  <c:v>0.24455802</c:v>
                </c:pt>
                <c:pt idx="31">
                  <c:v>0.24470288</c:v>
                </c:pt>
                <c:pt idx="32">
                  <c:v>0.24716104</c:v>
                </c:pt>
                <c:pt idx="33">
                  <c:v>0.23534812</c:v>
                </c:pt>
                <c:pt idx="34">
                  <c:v>0.23535661</c:v>
                </c:pt>
                <c:pt idx="35">
                  <c:v>0.2326143</c:v>
                </c:pt>
                <c:pt idx="36">
                  <c:v>0.23265831</c:v>
                </c:pt>
                <c:pt idx="37">
                  <c:v>0.23543433</c:v>
                </c:pt>
                <c:pt idx="38">
                  <c:v>0.22830192</c:v>
                </c:pt>
                <c:pt idx="39">
                  <c:v>0.23125236</c:v>
                </c:pt>
                <c:pt idx="40">
                  <c:v>0.22922793</c:v>
                </c:pt>
                <c:pt idx="41">
                  <c:v>0.2295518</c:v>
                </c:pt>
                <c:pt idx="42">
                  <c:v>0.23233735</c:v>
                </c:pt>
                <c:pt idx="43">
                  <c:v>0.21776191</c:v>
                </c:pt>
                <c:pt idx="44">
                  <c:v>0.23034267</c:v>
                </c:pt>
                <c:pt idx="45">
                  <c:v>0.22841354</c:v>
                </c:pt>
                <c:pt idx="46">
                  <c:v>0.22833923</c:v>
                </c:pt>
                <c:pt idx="47">
                  <c:v>0.23160577</c:v>
                </c:pt>
                <c:pt idx="48">
                  <c:v>0.2077825</c:v>
                </c:pt>
                <c:pt idx="49">
                  <c:v>0.23012172</c:v>
                </c:pt>
                <c:pt idx="50">
                  <c:v>0.22722429</c:v>
                </c:pt>
                <c:pt idx="51">
                  <c:v>0.25672115</c:v>
                </c:pt>
                <c:pt idx="52">
                  <c:v>0.24443727</c:v>
                </c:pt>
                <c:pt idx="53">
                  <c:v>0.20259089</c:v>
                </c:pt>
                <c:pt idx="54">
                  <c:v>0.23428337</c:v>
                </c:pt>
                <c:pt idx="55">
                  <c:v>0.2321119</c:v>
                </c:pt>
                <c:pt idx="56">
                  <c:v>0.23203877</c:v>
                </c:pt>
                <c:pt idx="57">
                  <c:v>0.23240501</c:v>
                </c:pt>
                <c:pt idx="58">
                  <c:v>0.22601857</c:v>
                </c:pt>
                <c:pt idx="59">
                  <c:v>0.26963547</c:v>
                </c:pt>
                <c:pt idx="60">
                  <c:v>0.23703565</c:v>
                </c:pt>
              </c:numCache>
            </c:numRef>
          </c:yVal>
        </c:ser>
        <c:ser>
          <c:idx val="1"/>
          <c:order val="1"/>
          <c:tx>
            <c:v>Наблюдения</c:v>
          </c:tx>
          <c:spPr>
            <a:solidFill xmlns:a="http://schemas.openxmlformats.org/drawingml/2006/main">
              <a:srgbClr val="F4F3E7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4</c:v>
                </c:pt>
                <c:pt idx="1">
                  <c:v>14</c:v>
                </c:pt>
                <c:pt idx="2">
                  <c:v>20</c:v>
                </c:pt>
                <c:pt idx="3">
                  <c:v>24</c:v>
                </c:pt>
                <c:pt idx="4">
                  <c:v>34</c:v>
                </c:pt>
                <c:pt idx="5">
                  <c:v>39</c:v>
                </c:pt>
                <c:pt idx="6">
                  <c:v>44</c:v>
                </c:pt>
                <c:pt idx="7">
                  <c:v>49</c:v>
                </c:pt>
                <c:pt idx="8">
                  <c:v>52</c:v>
                </c:pt>
                <c:pt idx="9">
                  <c:v>54</c:v>
                </c:pt>
                <c:pt idx="10">
                  <c:v>60</c:v>
                </c:pt>
              </c:numCache>
            </c:numRef>
          </c:xVal>
          <c:yVal>
            <c:numRef>
              <c:f>'Chart Data'!$D$2:$D$12</c:f>
              <c:numCache>
                <c:formatCode>0.0</c:formatCode>
                <c:ptCount val="11"/>
                <c:pt idx="0">
                  <c:v>0.26366385</c:v>
                </c:pt>
                <c:pt idx="1">
                  <c:v>0.25545343</c:v>
                </c:pt>
                <c:pt idx="2">
                  <c:v>0.32315502</c:v>
                </c:pt>
                <c:pt idx="3">
                  <c:v>0.24239805</c:v>
                </c:pt>
                <c:pt idx="4">
                  <c:v>0.23534812</c:v>
                </c:pt>
                <c:pt idx="5">
                  <c:v>0.22830192</c:v>
                </c:pt>
                <c:pt idx="6">
                  <c:v>0.21776191</c:v>
                </c:pt>
                <c:pt idx="7">
                  <c:v>0.2077825</c:v>
                </c:pt>
                <c:pt idx="8">
                  <c:v>0.25672115</c:v>
                </c:pt>
                <c:pt idx="9">
                  <c:v>0.20259089</c:v>
                </c:pt>
                <c:pt idx="10">
                  <c:v>0.26963547</c:v>
                </c:pt>
              </c:numCache>
            </c:numRef>
          </c:yVal>
        </c:ser>
        <c:ser>
          <c:idx val="2"/>
          <c:order val="2"/>
          <c:tx>
            <c:v>Историческая норма</c:v>
          </c:tx>
          <c:spPr>
            <a:solidFill xmlns:a="http://schemas.openxmlformats.org/drawingml/2006/main">
              <a:srgbClr val="8DA0A3"/>
            </a:solidFill>
            <a:ln xmlns:a="http://schemas.openxmlformats.org/drawingml/2006/main" w="0">
              <a:noFill/>
            </a:ln>
          </c:spPr>
          <c:marker>
            <c:symbol val="diamond"/>
            <c:size val="5"/>
            <c:spPr>
              <a:noFill xmlns:a="http://schemas.openxmlformats.org/drawingml/2006/main"/>
            </c:spPr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20</c:v>
                </c:pt>
                <c:pt idx="1">
                  <c:v>52</c:v>
                </c:pt>
                <c:pt idx="2">
                  <c:v>60</c:v>
                </c:pt>
              </c:numCache>
            </c:numRef>
          </c:xVal>
          <c:yVal>
            <c:numRef>
              <c:f>'Chart Data'!$F$2:$F$4</c:f>
              <c:numCache>
                <c:formatCode>0.0</c:formatCode>
                <c:ptCount val="3"/>
                <c:pt idx="0">
                  <c:v>0.21081068</c:v>
                </c:pt>
                <c:pt idx="1">
                  <c:v>0.20050267</c:v>
                </c:pt>
                <c:pt idx="2">
                  <c:v>0.21172266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1473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B6B8A4"/>
                    </a:solidFill>
                    <a:latin typeface="Arial"/>
                    <a:ea typeface="Arial"/>
                    <a:cs typeface="Arial"/>
                  </a:rPr>
                  <a:t>NDVI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B6B8A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1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B6B8A4"/>
                    </a:solidFill>
                    <a:latin typeface="Arial"/>
                    <a:ea typeface="Arial"/>
                    <a:cs typeface="Arial"/>
                  </a:rPr>
                  <a:t>День периода: 1 = 1 июня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B6B8A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41473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5"/>
      </c:valAx>
      <c:spPr>
        <a:solidFill xmlns:a="http://schemas.openxmlformats.org/drawingml/2006/main">
          <a:srgbClr val="11130B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F4F3E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11130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Восстановленный ряд</c:v>
          </c:tx>
          <c:spPr>
            <a:ln xmlns:a="http://schemas.openxmlformats.org/drawingml/2006/main" w="19050">
              <a:solidFill>
                <a:srgbClr val="EBFF78"/>
              </a:solidFill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</c:numCache>
            </c:numRef>
          </c:xVal>
          <c:yVal>
            <c:numRef>
              <c:f>'Chart Data'!$B$2:$B$62</c:f>
              <c:numCache>
                <c:formatCode>0.0</c:formatCode>
                <c:ptCount val="61"/>
                <c:pt idx="0">
                  <c:v>0.72571429</c:v>
                </c:pt>
                <c:pt idx="1">
                  <c:v>0.73927972</c:v>
                </c:pt>
                <c:pt idx="2">
                  <c:v>0.73927601</c:v>
                </c:pt>
                <c:pt idx="3">
                  <c:v>0.73917505</c:v>
                </c:pt>
                <c:pt idx="4">
                  <c:v>0.73995277</c:v>
                </c:pt>
                <c:pt idx="5">
                  <c:v>0.74258258</c:v>
                </c:pt>
                <c:pt idx="6">
                  <c:v>0.74445131</c:v>
                </c:pt>
                <c:pt idx="7">
                  <c:v>0.74651093</c:v>
                </c:pt>
                <c:pt idx="8">
                  <c:v>0.74188267</c:v>
                </c:pt>
                <c:pt idx="9">
                  <c:v>0.75264211</c:v>
                </c:pt>
                <c:pt idx="10">
                  <c:v>0.75510352</c:v>
                </c:pt>
                <c:pt idx="11">
                  <c:v>0.80203519</c:v>
                </c:pt>
                <c:pt idx="12">
                  <c:v>0.76539028</c:v>
                </c:pt>
                <c:pt idx="13">
                  <c:v>0.72835829</c:v>
                </c:pt>
                <c:pt idx="14">
                  <c:v>0.72710922</c:v>
                </c:pt>
                <c:pt idx="15">
                  <c:v>0.72795865</c:v>
                </c:pt>
                <c:pt idx="16">
                  <c:v>0.72796207</c:v>
                </c:pt>
                <c:pt idx="17">
                  <c:v>0.72815333</c:v>
                </c:pt>
                <c:pt idx="18">
                  <c:v>0.72756431</c:v>
                </c:pt>
                <c:pt idx="19">
                  <c:v>0.72994367</c:v>
                </c:pt>
                <c:pt idx="20">
                  <c:v>0.72626907</c:v>
                </c:pt>
                <c:pt idx="21">
                  <c:v>0.72432461</c:v>
                </c:pt>
                <c:pt idx="22">
                  <c:v>0.72267373</c:v>
                </c:pt>
                <c:pt idx="23">
                  <c:v>0.70177074</c:v>
                </c:pt>
                <c:pt idx="24">
                  <c:v>0.68968389</c:v>
                </c:pt>
                <c:pt idx="25">
                  <c:v>0.65620011</c:v>
                </c:pt>
                <c:pt idx="26">
                  <c:v>0.67055508</c:v>
                </c:pt>
                <c:pt idx="27">
                  <c:v>0.66980421</c:v>
                </c:pt>
                <c:pt idx="28">
                  <c:v>0.66764228</c:v>
                </c:pt>
                <c:pt idx="29">
                  <c:v>0.66828979</c:v>
                </c:pt>
                <c:pt idx="30">
                  <c:v>0.66731495</c:v>
                </c:pt>
                <c:pt idx="31">
                  <c:v>0.66774533</c:v>
                </c:pt>
                <c:pt idx="32">
                  <c:v>0.66793445</c:v>
                </c:pt>
                <c:pt idx="33">
                  <c:v>0.66239257</c:v>
                </c:pt>
                <c:pt idx="34">
                  <c:v>0.66743392</c:v>
                </c:pt>
                <c:pt idx="35">
                  <c:v>0.71068008</c:v>
                </c:pt>
                <c:pt idx="36">
                  <c:v>0.66423431</c:v>
                </c:pt>
                <c:pt idx="37">
                  <c:v>0.65754668</c:v>
                </c:pt>
                <c:pt idx="38">
                  <c:v>0.62261753</c:v>
                </c:pt>
                <c:pt idx="39">
                  <c:v>0.66026665</c:v>
                </c:pt>
                <c:pt idx="40">
                  <c:v>0.66318432</c:v>
                </c:pt>
                <c:pt idx="41">
                  <c:v>0.66201766</c:v>
                </c:pt>
                <c:pt idx="42">
                  <c:v>0.66203105</c:v>
                </c:pt>
                <c:pt idx="43">
                  <c:v>0.68241797</c:v>
                </c:pt>
                <c:pt idx="44">
                  <c:v>0.68771498</c:v>
                </c:pt>
                <c:pt idx="45">
                  <c:v>0.63024684</c:v>
                </c:pt>
                <c:pt idx="46">
                  <c:v>0.63496158</c:v>
                </c:pt>
                <c:pt idx="47">
                  <c:v>0.63390551</c:v>
                </c:pt>
                <c:pt idx="48">
                  <c:v>0.63232993</c:v>
                </c:pt>
                <c:pt idx="49">
                  <c:v>0.62831786</c:v>
                </c:pt>
                <c:pt idx="50">
                  <c:v>0.58799294</c:v>
                </c:pt>
                <c:pt idx="51">
                  <c:v>0.62096114</c:v>
                </c:pt>
                <c:pt idx="52">
                  <c:v>0.62097836</c:v>
                </c:pt>
                <c:pt idx="53">
                  <c:v>0.62097892</c:v>
                </c:pt>
                <c:pt idx="54">
                  <c:v>0.62234448</c:v>
                </c:pt>
                <c:pt idx="55">
                  <c:v>0.6212748</c:v>
                </c:pt>
                <c:pt idx="56">
                  <c:v>0.61998267</c:v>
                </c:pt>
                <c:pt idx="57">
                  <c:v>0.62036889</c:v>
                </c:pt>
                <c:pt idx="58">
                  <c:v>0.59722222</c:v>
                </c:pt>
                <c:pt idx="59">
                  <c:v>0.64140719</c:v>
                </c:pt>
                <c:pt idx="60">
                  <c:v>0.55478972</c:v>
                </c:pt>
              </c:numCache>
            </c:numRef>
          </c:yVal>
        </c:ser>
        <c:ser>
          <c:idx val="1"/>
          <c:order val="1"/>
          <c:tx>
            <c:v>Наблюдения</c:v>
          </c:tx>
          <c:spPr>
            <a:solidFill xmlns:a="http://schemas.openxmlformats.org/drawingml/2006/main">
              <a:srgbClr val="F4F3E7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Data'!$C$2:$C$16</c:f>
              <c:numCache>
                <c:formatCode>General</c:formatCode>
                <c:ptCount val="15"/>
                <c:pt idx="0">
                  <c:v>1</c:v>
                </c:pt>
                <c:pt idx="1">
                  <c:v>9</c:v>
                </c:pt>
                <c:pt idx="2">
                  <c:v>12</c:v>
                </c:pt>
                <c:pt idx="3">
                  <c:v>13</c:v>
                </c:pt>
                <c:pt idx="4">
                  <c:v>24</c:v>
                </c:pt>
                <c:pt idx="5">
                  <c:v>26</c:v>
                </c:pt>
                <c:pt idx="6">
                  <c:v>29</c:v>
                </c:pt>
                <c:pt idx="7">
                  <c:v>36</c:v>
                </c:pt>
                <c:pt idx="8">
                  <c:v>37</c:v>
                </c:pt>
                <c:pt idx="9">
                  <c:v>39</c:v>
                </c:pt>
                <c:pt idx="10">
                  <c:v>44</c:v>
                </c:pt>
                <c:pt idx="11">
                  <c:v>45</c:v>
                </c:pt>
                <c:pt idx="12">
                  <c:v>51</c:v>
                </c:pt>
                <c:pt idx="13">
                  <c:v>59</c:v>
                </c:pt>
                <c:pt idx="14">
                  <c:v>60</c:v>
                </c:pt>
              </c:numCache>
            </c:numRef>
          </c:xVal>
          <c:yVal>
            <c:numRef>
              <c:f>'Chart Data'!$D$2:$D$16</c:f>
              <c:numCache>
                <c:formatCode>0.0</c:formatCode>
                <c:ptCount val="15"/>
                <c:pt idx="0">
                  <c:v>0.72571429</c:v>
                </c:pt>
                <c:pt idx="1">
                  <c:v>0.74188267</c:v>
                </c:pt>
                <c:pt idx="2">
                  <c:v>0.80203519</c:v>
                </c:pt>
                <c:pt idx="3">
                  <c:v>0.76539028</c:v>
                </c:pt>
                <c:pt idx="4">
                  <c:v>0.70177074</c:v>
                </c:pt>
                <c:pt idx="5">
                  <c:v>0.65620011</c:v>
                </c:pt>
                <c:pt idx="6">
                  <c:v>0.66764228</c:v>
                </c:pt>
                <c:pt idx="7">
                  <c:v>0.71068008</c:v>
                </c:pt>
                <c:pt idx="8">
                  <c:v>0.66423431</c:v>
                </c:pt>
                <c:pt idx="9">
                  <c:v>0.62261753</c:v>
                </c:pt>
                <c:pt idx="10">
                  <c:v>0.68241797</c:v>
                </c:pt>
                <c:pt idx="11">
                  <c:v>0.68771498</c:v>
                </c:pt>
                <c:pt idx="12">
                  <c:v>0.58799294</c:v>
                </c:pt>
                <c:pt idx="13">
                  <c:v>0.59722222</c:v>
                </c:pt>
                <c:pt idx="14">
                  <c:v>0.64140719</c:v>
                </c:pt>
              </c:numCache>
            </c:numRef>
          </c:yVal>
        </c:ser>
        <c:ser>
          <c:idx val="2"/>
          <c:order val="2"/>
          <c:tx>
            <c:v>Историческая норма</c:v>
          </c:tx>
          <c:spPr>
            <a:solidFill xmlns:a="http://schemas.openxmlformats.org/drawingml/2006/main">
              <a:srgbClr val="8DA0A3"/>
            </a:solidFill>
            <a:ln xmlns:a="http://schemas.openxmlformats.org/drawingml/2006/main" w="0">
              <a:noFill/>
            </a:ln>
          </c:spPr>
          <c:marker>
            <c:symbol val="diamond"/>
            <c:size val="5"/>
            <c:spPr>
              <a:noFill xmlns:a="http://schemas.openxmlformats.org/drawingml/2006/main"/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12</c:v>
                </c:pt>
                <c:pt idx="1">
                  <c:v>13</c:v>
                </c:pt>
                <c:pt idx="2">
                  <c:v>36</c:v>
                </c:pt>
                <c:pt idx="3">
                  <c:v>37</c:v>
                </c:pt>
                <c:pt idx="4">
                  <c:v>60</c:v>
                </c:pt>
              </c:numCache>
            </c:numRef>
          </c:xVal>
          <c:yVal>
            <c:numRef>
              <c:f>'Chart Data'!$F$2:$F$6</c:f>
              <c:numCache>
                <c:formatCode>0.0</c:formatCode>
                <c:ptCount val="5"/>
                <c:pt idx="0">
                  <c:v>0.63404983</c:v>
                </c:pt>
                <c:pt idx="1">
                  <c:v>0.63404983</c:v>
                </c:pt>
                <c:pt idx="2">
                  <c:v>0.61652703</c:v>
                </c:pt>
                <c:pt idx="3">
                  <c:v>0.61652703</c:v>
                </c:pt>
                <c:pt idx="4">
                  <c:v>0.64123989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1473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B6B8A4"/>
                    </a:solidFill>
                    <a:latin typeface="Arial"/>
                    <a:ea typeface="Arial"/>
                    <a:cs typeface="Arial"/>
                  </a:rPr>
                  <a:t>NDVI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B6B8A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1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B6B8A4"/>
                    </a:solidFill>
                    <a:latin typeface="Arial"/>
                    <a:ea typeface="Arial"/>
                    <a:cs typeface="Arial"/>
                  </a:rPr>
                  <a:t>День периода: 1 = 1 июня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B6B8A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41473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5"/>
      </c:valAx>
      <c:spPr>
        <a:solidFill xmlns:a="http://schemas.openxmlformats.org/drawingml/2006/main">
          <a:srgbClr val="11130B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F4F3E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11130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76729-8434-420B-B6B7-9218A357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51CA5-203A-423F-BCAB-3E3A0939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8944eec5e4acb"/>
          <a:stretch xmlns:a="http://schemas.openxmlformats.org/drawingml/2006/main"/>
        </p:blipFill>
        <p:spPr>
          <a:xfrm xmlns:a="http://schemas.openxmlformats.org/drawingml/2006/main">
            <a:off x="5857875" y="1062964"/>
            <a:ext cx="6334125" cy="439869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BA330-ABF0-477C-BA0D-D024D243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61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C6D16-F927-4F79-BFA8-51B8387C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905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Вегетационная динамика</a:t>
            </a:r>
          </a:p>
          <a:p xmlns:a="http://schemas.openxmlformats.org/drawingml/2006/main">
            <a:pPr>
              <a:defRPr sz="29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сельскохозяйственных</a:t>
            </a:r>
          </a:p>
          <a:p xmlns:a="http://schemas.openxmlformats.org/drawingml/2006/main">
            <a:pPr>
              <a:defRPr sz="29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территорий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9E36A-2589-48D7-B2AE-25D04C5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Восстановление NDVI и разбор отклонений</a:t>
            </a:r>
          </a:p>
        </p:txBody>
      </p:sp>
    </p:spTree>
    <p:extLst>
      <p:ext uri="{BB962C8B-B14F-4D97-AF65-F5344CB8AC3E}">
        <p14:creationId xmlns:p14="http://schemas.microsoft.com/office/powerpoint/2010/main" val="787676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FDFE7-154D-428B-A5C1-23FB7312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Рабочий путь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ED444-32D7-4F75-B246-9BF7EF91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040E1-3055-4D81-9A5D-2453EBCD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cf375e9c94d8a"/>
          <a:stretch xmlns:a="http://schemas.openxmlformats.org/drawingml/2006/main"/>
        </p:blipFill>
        <p:spPr>
          <a:xfrm xmlns:a="http://schemas.openxmlformats.org/drawingml/2006/main">
            <a:off x="4171950" y="1571625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9427B-EDE0-4FDD-AA72-C74102B4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EE44F-58BE-4B98-AFD4-8A063E1E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Контур на карте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17A3E-E452-4EB6-B316-54D7979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ECB19-569B-4061-B0E2-5F0443D2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Период и источники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4CE4D-033C-4D76-818A-799F279F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54B87-50FE-4C09-8A25-E16F01F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Ряд и отклонения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AF839-E27E-46FF-B69D-322A104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12B3C-EB49-425A-AD6A-C08BA4C9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434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Сравнение и экспорт</a:t>
            </a:r>
          </a:p>
        </p:txBody>
      </p:sp>
    </p:spTree>
    <p:extLst>
      <p:ext uri="{BB962C8B-B14F-4D97-AF65-F5344CB8AC3E}">
        <p14:creationId xmlns:p14="http://schemas.microsoft.com/office/powerpoint/2010/main" val="6989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8FAEC-7651-4DEA-AE2C-BE29B5F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Два тестовых набора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2BF0A-8516-4CF8-80FE-5F50D822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2DB01-4C70-4FAC-96E3-653D3DD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00250"/>
                <a:gridCol w="1714500"/>
                <a:gridCol w="3257550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Набор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Строк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Полей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Контрольных точек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99 955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30 520 известных NDVI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test-dataset.csv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57 185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3 112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test_features.csv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49 190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2 323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BCD92-77AB-40A4-95A9-7EACDEB9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Два отдельных submission с контрольными суммами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91E9E-C024-43E6-99A8-7C217E66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Разметка первого test используется только для оценки готовых прогнозов.</a:t>
            </a:r>
          </a:p>
        </p:txBody>
      </p:sp>
    </p:spTree>
    <p:extLst>
      <p:ext uri="{BB962C8B-B14F-4D97-AF65-F5344CB8AC3E}">
        <p14:creationId xmlns:p14="http://schemas.microsoft.com/office/powerpoint/2010/main" val="1553439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00B5FB-CE00-4B60-BE14-46C5964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Архитектура приложения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C736-86E7-40D9-8F6F-76EDEC82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4A260-3B62-4AA5-A717-912B045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129BE-DC8C-41A7-8EA3-2B9E264D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3185D-4921-4057-847D-6A236AA3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Браузер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6BE94-E1FC-4697-B498-8823A551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Next.js, React, карта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DC653-BB84-4C33-94BC-A3706007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26FB5-5B4D-4D22-B5A3-B1A08B1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DDCA5-1AA0-402B-850E-2E16AA8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Django REST Framework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D52D7-1DC7-42C2-83D2-EFA2BE7F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57375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16CAB-666C-4E2D-BE23-51AE2D1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2E760-9B64-40D2-8AD5-EEFAB36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PostgreSQL / PostGIS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6FE1A-0583-4BD7-8927-A008563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76625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8270E-0DFD-44D8-ACB2-5E69B2CE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71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Очередь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167EE-4C44-46C8-96A8-0522AAE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Redis, Celery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9685E-3BFF-4E4C-9E60-01E84696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57112-C179-4FCE-9A9C-69BAC938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Наблюдения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B6288-D28A-4978-AA51-DC09E25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Sentinel-2, Landsat, погода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F8024-BACB-4FDA-BDBE-9EBE7C4B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76625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CEB77-D1CA-42E8-994F-72D1CC0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71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Расчёт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133ED-8584-428A-AC92-902BE8ED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terralens_ml, CPU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8A9BA-5BE0-41C4-9F11-63C9634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91125"/>
            <a:ext cx="31432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11130B"/>
          </a:solidFill>
          <a:ln xmlns:a="http://schemas.openxmlformats.org/drawingml/2006/main" w="9525">
            <a:solidFill>
              <a:srgbClr val="41473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9DB54-D5A8-44F9-BEEB-28D85C6B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863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Артефакты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43F56-20C9-494C-BE9F-E3FF0A24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67375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Snapshots, модели, экспорты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B3169-C2B8-4C24-BADC-76ED5851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145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FF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E6737-9F2D-4972-8536-2D52FFD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145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FF7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8CFAD-14A1-4033-B0F7-BF17939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71775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FF7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96894-359E-42C9-ABC8-8C4D58E8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FF7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089D8-4B40-4D83-9731-7E71C79F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FF7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69A1F-9A52-4B5B-8189-2A0046B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FF78"/>
            </a:solidFill>
          </a:ln>
        </p:spPr>
      </p:sp>
    </p:spTree>
    <p:extLst>
      <p:ext uri="{BB962C8B-B14F-4D97-AF65-F5344CB8AC3E}">
        <p14:creationId xmlns:p14="http://schemas.microsoft.com/office/powerpoint/2010/main" val="1842709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B5A37-3DF7-46ED-B9DF-893F97FA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Восстановление пропусков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B9B29-CF55-4925-9761-89FAE40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46AEA-B0F8-43EC-9453-3B5874A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E52C7-4616-4573-9E22-E476E9B6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3 CatBoost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C17D4-79C4-4D32-82B8-DF61C44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952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78 признаков</a:t>
            </a:r>
          </a:p>
          <a:p xmlns:a="http://schemas.openxmlformats.org/drawingml/2006/main">
            <a:pPr>
              <a:defRPr sz="210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Календарь, соседи и динамика сенсоров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EF51A-8D32-4A16-B45F-4B72EB9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4095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Пригодные наблюдения сохраняются.</a:t>
            </a:r>
          </a:p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Модель заполняет только пропуски.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810125" y="186690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05000"/>
                <a:gridCol w="19050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Вариант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RMSE точек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RMSE блоков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Прежний ансамбль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0,069207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0,095374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Культура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0,069241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0,094862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Динамика сенсоров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0,068260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0,094173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Оба набора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0,068356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0,093979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7B50B-0EAA-4949-AF81-FD40A2F4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43525"/>
            <a:ext cx="642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Development: 4 482 точки и 4 430 блоковых целей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FCD37-8D0A-4DC0-AB91-CCCBD45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4357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Одинаковые пять folds и маски</a:t>
            </a:r>
          </a:p>
        </p:txBody>
      </p:sp>
    </p:spTree>
    <p:extLst>
      <p:ext uri="{BB962C8B-B14F-4D97-AF65-F5344CB8AC3E}">
        <p14:creationId xmlns:p14="http://schemas.microsoft.com/office/powerpoint/2010/main" val="2087509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B2F7F-00F6-41F4-93D2-B6EB37E5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Защита от утечки целей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A7C5A-3535-4D20-BF70-9B09B8EE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4977E-D039-4677-9F7E-4AC63EBB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571625"/>
                <a:gridCol w="6686550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Полей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Как используются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и пять development folds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Calibration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Калибровка интервалов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Assessment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Повторная диагностика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Прежний holdout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Исключён из нового выбора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7F90F-8F79-4538-AA1A-720966E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Скрытая дата не раскрывается через второй сенсор</a:t>
            </a:r>
          </a:p>
        </p:txBody>
      </p:sp>
    </p:spTree>
    <p:extLst>
      <p:ext uri="{BB962C8B-B14F-4D97-AF65-F5344CB8AC3E}">
        <p14:creationId xmlns:p14="http://schemas.microsoft.com/office/powerpoint/2010/main" val="260544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B8CAF-59A3-4FA9-85D6-60A3761C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Локальная оценка готового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50D92-9D2E-4E2A-AC0B-2C2E4E46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C9C13-BEDF-4AC6-8500-E078D4F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A333A-1BA1-4A95-8705-FE32528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71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90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0,075034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271E4-5FC5-48B0-911E-6DD30FB5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RMSE на 3 112 контрольных точках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E117-C775-454D-B1F3-D02EC149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390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7,49 /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7FC77-EBB4-4F91-A78C-A975E542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361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GapScore по формуле кейса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417A5-FBE5-47B3-A79E-874D657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473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4F941-99BC-4592-9682-EECFE80B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Модель и прогнозы зафиксированы до чтения ответов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2C190-1B44-4B92-90A6-6830D0A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Результат платформы организаторов не получен.</a:t>
            </a:r>
          </a:p>
        </p:txBody>
      </p:sp>
    </p:spTree>
    <p:extLst>
      <p:ext uri="{BB962C8B-B14F-4D97-AF65-F5344CB8AC3E}">
        <p14:creationId xmlns:p14="http://schemas.microsoft.com/office/powerpoint/2010/main" val="57536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AA715-AFAD-4141-A974-FF157CDF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Проверка на реальных полях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4FD8C-7EB1-4264-A1EE-C98174C8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2A0FD-A142-485B-B768-EE59074D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86300"/>
                <a:gridCol w="1524000"/>
                <a:gridCol w="2381250"/>
                <a:gridCol w="2381250"/>
              </a:tblGrid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N точек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M0 RMSE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Модель RMSE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Потсдам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0,0344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0,0481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Севилья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0,0427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0,0331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57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Воронежская область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0,0364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0,0690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09400-1E33-41BB-83D8-77267E5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Общий RMSE модели 0,0532, M0 0,0375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637F9-3BE8-49BE-961D-D218BC12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На точках модель в среднем уступила M0. 40 целей, три поля, 01.06–31.07.2024.</a:t>
            </a:r>
          </a:p>
        </p:txBody>
      </p:sp>
    </p:spTree>
    <p:extLst>
      <p:ext uri="{BB962C8B-B14F-4D97-AF65-F5344CB8AC3E}">
        <p14:creationId xmlns:p14="http://schemas.microsoft.com/office/powerpoint/2010/main" val="2077785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B10C-392C-4558-A8AF-CEEE94B1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Воронежская область: негативное отклонение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9FBCF-879E-4729-80FD-3DD7BDBE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459FB-0976-4E69-9B53-8E6E0F75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766762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97d32c70d94a1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CD81D-2CFD-4C1E-A5C6-88BC9AB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859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14 из 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01747-B020-4DD7-B9F4-7575DCD1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дней с пригодными</a:t>
            </a:r>
          </a:p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наблюдениями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FA762-F668-47F8-A0F0-3E4FC20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27 июня — 22 июля</a:t>
            </a:r>
          </a:p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8 наблюдаемых дней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4023C-EDD0-42F9-951E-CAF52CB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86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Ниже нормы при растущем NDVI. Причина не подтверждена.</a:t>
            </a:r>
          </a:p>
        </p:txBody>
      </p:sp>
    </p:spTree>
    <p:extLst>
      <p:ext uri="{BB962C8B-B14F-4D97-AF65-F5344CB8AC3E}">
        <p14:creationId xmlns:p14="http://schemas.microsoft.com/office/powerpoint/2010/main" val="1900383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3A6A8-358D-4FBD-9BA9-61AB3FF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Севилья: границы исторической нормы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B3A79-E498-4ADB-82C9-F8EE5C01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94A54-32AD-4C64-83F7-85D612C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766762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a0bddc413743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FF585-9B00-4F6E-B3EF-D2F00DE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859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11 из 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57FCF-DDA9-4BA1-815C-1A4549C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дней с пригодными</a:t>
            </a:r>
          </a:p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наблюдениями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451E3-E3DF-45ED-9003-73C215C3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Недостаток нормы</a:t>
            </a:r>
          </a:p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остаётся видимым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4ADC6-731C-40AE-B7C2-106FD6FE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8637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Норма доступна лишь на 3 из 61 дня. Статус: недостаточно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89601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2740C-CF2F-449D-BCD5-CD2D8E6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Проверяемый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08AE9-6230-4373-B042-8D2E6F7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26A42-74AD-492A-B971-6F3F1D75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a01765a8e47d5"/>
          <a:stretch xmlns:a="http://schemas.openxmlformats.org/drawingml/2006/main"/>
        </p:blipFill>
        <p:spPr>
          <a:xfrm xmlns:a="http://schemas.openxmlformats.org/drawingml/2006/main">
            <a:off x="4210050" y="1600200"/>
            <a:ext cx="7391400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6EAE3-3B71-4393-8A72-C56EDE1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Источники и качество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A30CF-1AF1-4202-9C32-A851381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095625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Модель и версия контура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CSV, GeoJSON и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Manifest и SHA-256</a:t>
            </a:r>
          </a:p>
        </p:txBody>
      </p:sp>
    </p:spTree>
    <p:extLst>
      <p:ext uri="{BB962C8B-B14F-4D97-AF65-F5344CB8AC3E}">
        <p14:creationId xmlns:p14="http://schemas.microsoft.com/office/powerpoint/2010/main" val="4784054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FF9C3-1800-4194-8BD3-B8512D0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Запуск и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7DC5D-70D2-4C37-85B1-1FCC2EE2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CC78D-9A93-4EA2-A3A1-58BA9EB6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579A5-44DF-4780-8DE4-0685E430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docker compose up --build -d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B1E9B-F2AE-4A87-95FA-413EC8A0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localhost:3001/app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9052C-F75F-4721-AA57-5DEA251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Карта, анализ и экспорт</a:t>
            </a:r>
          </a:p>
          <a:p xmlns:a="http://schemas.openxmlformats.org/drawingml/2006/main">
            <a:pPr>
              <a:defRPr sz="232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Готовые результаты и два submission в репозитории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47C80-FE08-41F2-8F85-E0F829A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github.com/ArtycoBW/Terralens</a:t>
            </a:r>
          </a:p>
        </p:txBody>
      </p:sp>
    </p:spTree>
    <p:extLst>
      <p:ext uri="{BB962C8B-B14F-4D97-AF65-F5344CB8AC3E}">
        <p14:creationId xmlns:p14="http://schemas.microsoft.com/office/powerpoint/2010/main" val="17145697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64FBA-A831-42BA-8667-E2898314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Приложение: блоки пропусков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E8B8F-24DC-41D6-85CE-92720D3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55501-EB85-4E5E-A692-21BAD103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86300"/>
                <a:gridCol w="1524000"/>
                <a:gridCol w="2381250"/>
                <a:gridCol w="2381250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N точек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M0 RMSE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EBFF78"/>
                          </a:solidFill>
                          <a:latin typeface="Arial"/>
                          <a:ea typeface="Arial"/>
                          <a:cs typeface="Arial"/>
                        </a:rPr>
                        <a:t>Модель RMSE</a:t>
                      </a:r>
                    </a:p>
                  </a:txBody>
                  <a:tcPr marL="91440" marR="91440" marT="45720" marB="45720">
                    <a:solidFill>
                      <a:srgbClr val="252B18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Потсдам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0,0620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0,0537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Севилья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0,0885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0,0427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Воронежская область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0,0799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4F3E7"/>
                          </a:solidFill>
                          <a:latin typeface="Arial"/>
                          <a:ea typeface="Arial"/>
                          <a:cs typeface="Arial"/>
                        </a:rPr>
                        <a:t>0,0889</a:t>
                      </a:r>
                    </a:p>
                  </a:txBody>
                  <a:tcPr marL="91440" marR="91440" marT="45720" marB="45720">
                    <a:solidFill>
                      <a:srgbClr val="11130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D080F-2079-45CC-8B61-1E271273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Общий RMSE: модель 0,0668, M0 0,0764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37129-AE86-49DA-B887-BD44B29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Новая проверка использует фиксированные модель, поля и маски.</a:t>
            </a:r>
          </a:p>
        </p:txBody>
      </p:sp>
    </p:spTree>
    <p:extLst>
      <p:ext uri="{BB962C8B-B14F-4D97-AF65-F5344CB8AC3E}">
        <p14:creationId xmlns:p14="http://schemas.microsoft.com/office/powerpoint/2010/main" val="16155011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8ED58-07AD-480A-87F5-0ED436B6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Приложение: ограничения и трактовка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9BD6E-3D05-40F2-9BF2-0A24FCD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15410-64E4-462D-8A17-553F7D73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C6505-755E-4E80-846A-E980E577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Ретроспективный режим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424B6-8F7B-4F28-BC75-332DDD0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Восстановление использует прошлые и будущие наблюдения.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2AF61-9133-448B-88B0-8D104011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473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4A72A-A9CF-454D-A9C6-ACDB29D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Агрономическая причина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0FCE5-9FC2-4844-8569-F7597A7E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384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Сигнал требует проверки культуры, уборки, полива и погоды.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53A69-55AD-433D-B36F-2389FB2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473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54AF2-B9D9-48AA-A37C-AE3BC69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Перенос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59F90-5EF8-402D-9792-77D569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Три поля не представляют все регионы и типы культур.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FA6AC-3BD6-4BAB-8A0D-FF9CCA6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473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ED72A-4343-4ECC-8FE8-731BF8E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Финальный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DCD9B-336E-4A92-B9CA-96D8557A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Подготовлены два результата. Назначение входа уточняют организаторы.</a:t>
            </a:r>
          </a:p>
        </p:txBody>
      </p:sp>
    </p:spTree>
    <p:extLst>
      <p:ext uri="{BB962C8B-B14F-4D97-AF65-F5344CB8AC3E}">
        <p14:creationId xmlns:p14="http://schemas.microsoft.com/office/powerpoint/2010/main" val="1573107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3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2F648-2E71-4E28-90BA-037C11D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Приложение: Потсдам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2B4F3-D5EF-4226-ABEB-0D453F76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TerraLens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E329F-4CB4-4CF2-B1C8-151E8370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436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766762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4d0a72c32744a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E0998-E8E6-4F38-8D9F-84DA9330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EBFF7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BFF78"/>
                </a:solidFill>
                <a:latin typeface="Arial"/>
                <a:ea typeface="Arial"/>
                <a:cs typeface="Arial"/>
              </a:rPr>
              <a:t>15 из 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A6AEA-FC0E-43C5-BF86-E1002E9F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289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дней с пригодными</a:t>
            </a:r>
          </a:p>
          <a:p xmlns:a="http://schemas.openxmlformats.org/drawingml/2006/main">
            <a:pPr>
              <a:defRPr sz="180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наблюдениями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CC64A-E915-4FEE-BEC6-E4DC47AD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Событий нет.</a:t>
            </a:r>
          </a:p>
          <a:p xmlns:a="http://schemas.openxmlformats.org/drawingml/2006/main">
            <a:pPr>
              <a:defRPr sz="2175" b="0">
                <a:solidFill>
                  <a:srgbClr val="F4F3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3E7"/>
                </a:solidFill>
                <a:latin typeface="Arial"/>
                <a:ea typeface="Arial"/>
                <a:cs typeface="Arial"/>
              </a:rPr>
              <a:t>Недостаточно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C70DD-25AB-45E0-ADF7-0171CF5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0542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6B8A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B8A4"/>
                </a:solidFill>
                <a:latin typeface="Arial"/>
                <a:ea typeface="Arial"/>
                <a:cs typeface="Arial"/>
              </a:rPr>
              <a:t>Норма доступна лишь на 4 из 61 дня.</a:t>
            </a:r>
          </a:p>
        </p:txBody>
      </p:sp>
    </p:spTree>
    <p:extLst>
      <p:ext uri="{BB962C8B-B14F-4D97-AF65-F5344CB8AC3E}">
        <p14:creationId xmlns:p14="http://schemas.microsoft.com/office/powerpoint/2010/main" val="2084928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2026-09-05T20:46:53.8190000Z</dcterms:created>
  <dcterms:modified xsi:type="dcterms:W3CDTF">2026-09-05T20:46:53.8190000Z</dcterms:modified>
</coreProperties>
</file>